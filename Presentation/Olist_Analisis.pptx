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6" r:id="rId9"/>
    <p:sldId id="297" r:id="rId10"/>
    <p:sldId id="298" r:id="rId11"/>
    <p:sldId id="299" r:id="rId12"/>
    <p:sldId id="300" r:id="rId13"/>
    <p:sldId id="263" r:id="rId14"/>
    <p:sldId id="268" r:id="rId15"/>
    <p:sldId id="301" r:id="rId16"/>
    <p:sldId id="270" r:id="rId17"/>
    <p:sldId id="280" r:id="rId18"/>
    <p:sldId id="282" r:id="rId19"/>
    <p:sldId id="283" r:id="rId20"/>
    <p:sldId id="284" r:id="rId21"/>
    <p:sldId id="285" r:id="rId22"/>
    <p:sldId id="302" r:id="rId23"/>
    <p:sldId id="304" r:id="rId24"/>
    <p:sldId id="303" r:id="rId25"/>
    <p:sldId id="305" r:id="rId26"/>
    <p:sldId id="26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28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13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80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35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05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07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6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8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3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61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45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10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79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70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255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77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746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366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47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56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874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801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543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716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4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43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8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D34D6F9-6D4B-4A35-A8EA-53BF0F8C960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A7D5F27-ABB9-4928-BD9B-C75F13545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  <p:sldLayoutId id="2147483992" r:id="rId12"/>
    <p:sldLayoutId id="2147483993" r:id="rId13"/>
    <p:sldLayoutId id="2147483994" r:id="rId14"/>
    <p:sldLayoutId id="2147483995" r:id="rId15"/>
    <p:sldLayoutId id="2147483996" r:id="rId16"/>
    <p:sldLayoutId id="2147483997" r:id="rId17"/>
    <p:sldLayoutId id="2147483998" r:id="rId18"/>
    <p:sldLayoutId id="2147483999" r:id="rId19"/>
    <p:sldLayoutId id="2147484000" r:id="rId20"/>
    <p:sldLayoutId id="2147484001" r:id="rId21"/>
    <p:sldLayoutId id="2147484002" r:id="rId22"/>
    <p:sldLayoutId id="2147484003" r:id="rId23"/>
    <p:sldLayoutId id="2147484004" r:id="rId24"/>
    <p:sldLayoutId id="2147484005" r:id="rId25"/>
    <p:sldLayoutId id="2147484006" r:id="rId26"/>
    <p:sldLayoutId id="2147484007" r:id="rId27"/>
    <p:sldLayoutId id="2147484008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irwanls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aggle.com/datasets/olistbr/brazilian-ecommerc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50CB-503F-6B46-5CF2-5405DC23A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 err="1"/>
              <a:t>Olist</a:t>
            </a:r>
            <a:r>
              <a:rPr lang="en-US" sz="6000" dirty="0"/>
              <a:t> Seller and Customer Analysis</a:t>
            </a:r>
            <a:br>
              <a:rPr lang="en-US" dirty="0"/>
            </a:br>
            <a:r>
              <a:rPr lang="en-US" sz="2400" dirty="0"/>
              <a:t>(Brazilian E-Commerce Public Dataset by </a:t>
            </a:r>
            <a:r>
              <a:rPr lang="en-US" sz="2400" dirty="0" err="1"/>
              <a:t>Olist</a:t>
            </a:r>
            <a:r>
              <a:rPr lang="en-US" sz="2400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21D4B-9438-FF21-9665-D7D90FA55F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 by Irwan </a:t>
            </a:r>
            <a:r>
              <a:rPr lang="en-US" dirty="0" err="1"/>
              <a:t>Lazuardi</a:t>
            </a:r>
            <a:r>
              <a:rPr lang="en-US" dirty="0"/>
              <a:t> Saldeni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38CFF-6CCE-3A12-B107-93930F17FBAE}"/>
              </a:ext>
            </a:extLst>
          </p:cNvPr>
          <p:cNvSpPr txBox="1"/>
          <p:nvPr/>
        </p:nvSpPr>
        <p:spPr>
          <a:xfrm>
            <a:off x="601417" y="6007478"/>
            <a:ext cx="2861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23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2108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A74BE35B-66E0-231B-648D-D3256DE08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C55405-E6BD-0057-0831-10FB2C0F5080}"/>
              </a:ext>
            </a:extLst>
          </p:cNvPr>
          <p:cNvSpPr txBox="1"/>
          <p:nvPr/>
        </p:nvSpPr>
        <p:spPr>
          <a:xfrm>
            <a:off x="2853670" y="2362711"/>
            <a:ext cx="34673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Introduction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10E5D2-33E4-AEB4-6D5E-0547CBFADB23}"/>
              </a:ext>
            </a:extLst>
          </p:cNvPr>
          <p:cNvSpPr txBox="1"/>
          <p:nvPr/>
        </p:nvSpPr>
        <p:spPr>
          <a:xfrm>
            <a:off x="3969565" y="3433461"/>
            <a:ext cx="4898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Project Overview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30D11E-86AF-9553-A204-AE082BFB3018}"/>
              </a:ext>
            </a:extLst>
          </p:cNvPr>
          <p:cNvSpPr txBox="1"/>
          <p:nvPr/>
        </p:nvSpPr>
        <p:spPr>
          <a:xfrm>
            <a:off x="5063653" y="4504211"/>
            <a:ext cx="39023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Main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924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43E1B-B9EE-700E-241F-F8AF8CBB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8A3A03-97FA-FBDD-1010-3FFFC046C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87" b="5115"/>
          <a:stretch>
            <a:fillRect/>
          </a:stretch>
        </p:blipFill>
        <p:spPr>
          <a:xfrm>
            <a:off x="991624" y="1690688"/>
            <a:ext cx="3104511" cy="300095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30BC13-702E-A739-66D8-7AB35B1AFFE5}"/>
              </a:ext>
            </a:extLst>
          </p:cNvPr>
          <p:cNvSpPr txBox="1"/>
          <p:nvPr/>
        </p:nvSpPr>
        <p:spPr>
          <a:xfrm>
            <a:off x="785736" y="4921277"/>
            <a:ext cx="3786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Irwan </a:t>
            </a:r>
            <a:r>
              <a:rPr lang="en-US" dirty="0" err="1"/>
              <a:t>Lazuardi</a:t>
            </a:r>
            <a:r>
              <a:rPr lang="en-US" dirty="0"/>
              <a:t> Saldeni</a:t>
            </a:r>
          </a:p>
          <a:p>
            <a:r>
              <a:rPr lang="en-US" dirty="0"/>
              <a:t>@dibimbing Bootcamp Data </a:t>
            </a:r>
            <a:r>
              <a:rPr lang="en-US" dirty="0" err="1"/>
              <a:t>Analist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B4012-C582-5EF5-1966-9F02727E525B}"/>
              </a:ext>
            </a:extLst>
          </p:cNvPr>
          <p:cNvSpPr txBox="1"/>
          <p:nvPr/>
        </p:nvSpPr>
        <p:spPr>
          <a:xfrm>
            <a:off x="5503405" y="1475059"/>
            <a:ext cx="444312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Education</a:t>
            </a:r>
          </a:p>
          <a:p>
            <a:r>
              <a:rPr lang="en-US" sz="2800" dirty="0"/>
              <a:t>Universitas Gadjah Mada</a:t>
            </a:r>
          </a:p>
          <a:p>
            <a:r>
              <a:rPr lang="en-US" sz="2800" dirty="0"/>
              <a:t>Electrical Engineering</a:t>
            </a:r>
          </a:p>
          <a:p>
            <a:r>
              <a:rPr lang="en-US" sz="2000" dirty="0"/>
              <a:t>Graduated at Mei 2025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3A0F09-3ED0-E021-E2CD-3758986199B8}"/>
              </a:ext>
            </a:extLst>
          </p:cNvPr>
          <p:cNvSpPr txBox="1"/>
          <p:nvPr/>
        </p:nvSpPr>
        <p:spPr>
          <a:xfrm>
            <a:off x="5503405" y="3645197"/>
            <a:ext cx="4900380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Work Experience</a:t>
            </a:r>
          </a:p>
          <a:p>
            <a:r>
              <a:rPr lang="en-US" sz="2800" dirty="0"/>
              <a:t>Project Overhaul PLTU </a:t>
            </a:r>
            <a:r>
              <a:rPr lang="en-US" sz="2800" dirty="0" err="1"/>
              <a:t>Sebalang</a:t>
            </a:r>
            <a:endParaRPr lang="en-US" sz="2800" dirty="0"/>
          </a:p>
          <a:p>
            <a:r>
              <a:rPr lang="en-US" sz="2800" dirty="0"/>
              <a:t>Instrument &amp; Control Technician</a:t>
            </a:r>
          </a:p>
          <a:p>
            <a:r>
              <a:rPr lang="en-US" sz="2000" dirty="0"/>
              <a:t>June-August 2025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650459-4D8D-05A6-6151-DA568051B3D7}"/>
              </a:ext>
            </a:extLst>
          </p:cNvPr>
          <p:cNvSpPr txBox="1"/>
          <p:nvPr/>
        </p:nvSpPr>
        <p:spPr>
          <a:xfrm>
            <a:off x="785736" y="5612581"/>
            <a:ext cx="4788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Linkedin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https://www.linkedin.com/in/irwanls/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436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B00F-97DF-3785-6437-2EB01D5E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98D4B-C33E-52C0-9441-A29F26638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02105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Implementation of the Web-Based Internet of Things in Building Management Systems Aspects of Fire Protection and HVAC </a:t>
            </a:r>
          </a:p>
          <a:p>
            <a:pPr marL="0" indent="0">
              <a:buNone/>
            </a:pPr>
            <a:r>
              <a:rPr lang="en-US" sz="2400" dirty="0"/>
              <a:t>   Tools : Arduino, </a:t>
            </a:r>
            <a:r>
              <a:rPr lang="en-US" sz="2400" dirty="0" err="1"/>
              <a:t>Thingspeak</a:t>
            </a:r>
            <a:endParaRPr lang="en-US" sz="2400" dirty="0"/>
          </a:p>
          <a:p>
            <a:r>
              <a:rPr lang="en-US" sz="2400" dirty="0">
                <a:latin typeface="DM Sans" pitchFamily="2" charset="0"/>
              </a:rPr>
              <a:t>Employee Performance Evaluation: Dashboard </a:t>
            </a:r>
            <a:r>
              <a:rPr lang="en-US" sz="2400" dirty="0" err="1">
                <a:latin typeface="DM Sans" pitchFamily="2" charset="0"/>
              </a:rPr>
              <a:t>performa</a:t>
            </a:r>
            <a:r>
              <a:rPr lang="en-US" sz="2400" dirty="0">
                <a:latin typeface="DM Sans" pitchFamily="2" charset="0"/>
              </a:rPr>
              <a:t> </a:t>
            </a:r>
            <a:r>
              <a:rPr lang="en-US" sz="2400" dirty="0" err="1">
                <a:latin typeface="DM Sans" pitchFamily="2" charset="0"/>
              </a:rPr>
              <a:t>pegawai</a:t>
            </a:r>
            <a:r>
              <a:rPr lang="en-US" sz="2400" dirty="0">
                <a:latin typeface="DM Sans" pitchFamily="2" charset="0"/>
              </a:rPr>
              <a:t> dan </a:t>
            </a:r>
            <a:r>
              <a:rPr lang="en-US" sz="2400" dirty="0" err="1">
                <a:latin typeface="DM Sans" pitchFamily="2" charset="0"/>
              </a:rPr>
              <a:t>recomendasi</a:t>
            </a:r>
            <a:r>
              <a:rPr lang="en-US" sz="2400" dirty="0">
                <a:latin typeface="DM Sans" pitchFamily="2" charset="0"/>
              </a:rPr>
              <a:t> </a:t>
            </a:r>
            <a:r>
              <a:rPr lang="en-US" sz="2400" dirty="0" err="1">
                <a:latin typeface="DM Sans" pitchFamily="2" charset="0"/>
              </a:rPr>
              <a:t>untuk</a:t>
            </a:r>
            <a:r>
              <a:rPr lang="en-US" sz="2400" dirty="0">
                <a:latin typeface="DM Sans" pitchFamily="2" charset="0"/>
              </a:rPr>
              <a:t> </a:t>
            </a:r>
            <a:r>
              <a:rPr lang="en-US" sz="2400" dirty="0" err="1">
                <a:latin typeface="DM Sans" pitchFamily="2" charset="0"/>
              </a:rPr>
              <a:t>meningkatkan</a:t>
            </a:r>
            <a:r>
              <a:rPr lang="en-US" sz="2400" dirty="0">
                <a:latin typeface="DM Sans" pitchFamily="2" charset="0"/>
              </a:rPr>
              <a:t> </a:t>
            </a:r>
            <a:r>
              <a:rPr lang="en-US" sz="2400" dirty="0" err="1">
                <a:latin typeface="DM Sans" pitchFamily="2" charset="0"/>
              </a:rPr>
              <a:t>performa</a:t>
            </a:r>
            <a:endParaRPr lang="en-US" sz="2400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DM Sans" pitchFamily="2" charset="0"/>
              </a:rPr>
              <a:t>   </a:t>
            </a:r>
            <a:r>
              <a:rPr lang="en-US" sz="2400" dirty="0"/>
              <a:t>Tools : MS. Excel</a:t>
            </a:r>
          </a:p>
          <a:p>
            <a:r>
              <a:rPr lang="en-US" sz="2400" dirty="0"/>
              <a:t>Pre Processing Project: Project cleaning data dan </a:t>
            </a:r>
            <a:r>
              <a:rPr lang="en-US" sz="2400" dirty="0" err="1"/>
              <a:t>mendeteksi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dirty="0" err="1"/>
              <a:t>selama</a:t>
            </a:r>
            <a:r>
              <a:rPr lang="en-US" sz="2400" dirty="0"/>
              <a:t> proses cleaning</a:t>
            </a:r>
          </a:p>
          <a:p>
            <a:pPr marL="0" indent="0">
              <a:buNone/>
            </a:pPr>
            <a:r>
              <a:rPr lang="en-US" sz="2400" dirty="0"/>
              <a:t>   Tools : Jupyter Notebook (Python)</a:t>
            </a:r>
          </a:p>
          <a:p>
            <a:r>
              <a:rPr lang="en-US" sz="2400" dirty="0"/>
              <a:t>Exploratory Data Analysis: </a:t>
            </a:r>
            <a:r>
              <a:rPr lang="en-US" sz="2400" dirty="0" err="1"/>
              <a:t>melihat</a:t>
            </a:r>
            <a:r>
              <a:rPr lang="en-US" sz="2400" dirty="0"/>
              <a:t> </a:t>
            </a:r>
            <a:r>
              <a:rPr lang="en-US" sz="2400" dirty="0" err="1"/>
              <a:t>pola</a:t>
            </a:r>
            <a:r>
              <a:rPr lang="en-US" sz="2400" dirty="0"/>
              <a:t> statistic pada </a:t>
            </a:r>
            <a:r>
              <a:rPr lang="en-US" sz="2400" dirty="0" err="1"/>
              <a:t>suatu</a:t>
            </a:r>
            <a:r>
              <a:rPr lang="en-US" sz="2400" dirty="0"/>
              <a:t> data</a:t>
            </a:r>
          </a:p>
          <a:p>
            <a:pPr marL="0" indent="0">
              <a:buNone/>
            </a:pPr>
            <a:r>
              <a:rPr lang="en-US" sz="2400" dirty="0"/>
              <a:t>   Tools : Jupyter Notebook (Python)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9721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65879-FA37-55B3-984E-F3BCCA826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ACB15-4389-36C6-8971-E9630FF267C8}"/>
              </a:ext>
            </a:extLst>
          </p:cNvPr>
          <p:cNvSpPr txBox="1"/>
          <p:nvPr/>
        </p:nvSpPr>
        <p:spPr>
          <a:xfrm>
            <a:off x="838200" y="1851376"/>
            <a:ext cx="52079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A24FD-170A-CB13-12A9-33A6A41B1731}"/>
              </a:ext>
            </a:extLst>
          </p:cNvPr>
          <p:cNvSpPr txBox="1"/>
          <p:nvPr/>
        </p:nvSpPr>
        <p:spPr>
          <a:xfrm>
            <a:off x="2332448" y="2781505"/>
            <a:ext cx="49089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Data Understanding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9F2257-B5E0-6961-5696-26FCA316383C}"/>
              </a:ext>
            </a:extLst>
          </p:cNvPr>
          <p:cNvSpPr txBox="1"/>
          <p:nvPr/>
        </p:nvSpPr>
        <p:spPr>
          <a:xfrm>
            <a:off x="3755055" y="3650079"/>
            <a:ext cx="42889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Data Preparation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43E491-D974-0E87-D254-0EE25A08AE5D}"/>
              </a:ext>
            </a:extLst>
          </p:cNvPr>
          <p:cNvSpPr txBox="1"/>
          <p:nvPr/>
        </p:nvSpPr>
        <p:spPr>
          <a:xfrm>
            <a:off x="5144614" y="4518653"/>
            <a:ext cx="33822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Visualization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A73C1-672B-5014-7723-3963616C495E}"/>
              </a:ext>
            </a:extLst>
          </p:cNvPr>
          <p:cNvSpPr txBox="1"/>
          <p:nvPr/>
        </p:nvSpPr>
        <p:spPr>
          <a:xfrm>
            <a:off x="6584909" y="5387227"/>
            <a:ext cx="44530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4064359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A99D-D1D0-895C-F393-3237E210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570B7-B74D-B0BB-5C11-438B75535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Quick Response Code Indonesian Standard (QRIS)</a:t>
            </a:r>
          </a:p>
          <a:p>
            <a:pPr marL="0" indent="0" algn="just">
              <a:buNone/>
            </a:pPr>
            <a:r>
              <a:rPr lang="en-US" sz="2400" dirty="0"/>
              <a:t>	 Kasir </a:t>
            </a:r>
            <a:r>
              <a:rPr lang="en-US" sz="2400" dirty="0" err="1"/>
              <a:t>memasukkan</a:t>
            </a:r>
            <a:r>
              <a:rPr lang="en-US" sz="2400" dirty="0"/>
              <a:t> nominal </a:t>
            </a:r>
            <a:r>
              <a:rPr lang="en-US" sz="2400" dirty="0" err="1"/>
              <a:t>transaksi</a:t>
            </a:r>
            <a:r>
              <a:rPr lang="en-US" sz="2400" dirty="0"/>
              <a:t> pada </a:t>
            </a:r>
            <a:r>
              <a:rPr lang="en-US" sz="2400" dirty="0" err="1"/>
              <a:t>sistem</a:t>
            </a:r>
            <a:r>
              <a:rPr lang="en-US" sz="2400" dirty="0"/>
              <a:t> POS, </a:t>
            </a:r>
            <a:r>
              <a:rPr lang="en-US" sz="2400" dirty="0" err="1"/>
              <a:t>kemudian</a:t>
            </a:r>
            <a:r>
              <a:rPr lang="en-US" sz="2400" dirty="0"/>
              <a:t> merchant </a:t>
            </a:r>
            <a:r>
              <a:rPr lang="en-US" sz="2400" dirty="0" err="1"/>
              <a:t>menampilkan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r>
              <a:rPr lang="en-US" sz="2400" dirty="0"/>
              <a:t> QR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dipindai</a:t>
            </a:r>
            <a:r>
              <a:rPr lang="en-US" sz="2400" dirty="0"/>
              <a:t> oleh </a:t>
            </a:r>
            <a:r>
              <a:rPr lang="en-US" sz="2400" dirty="0" err="1"/>
              <a:t>pelanggan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mobile banking </a:t>
            </a:r>
            <a:r>
              <a:rPr lang="en-US" sz="2400" dirty="0" err="1"/>
              <a:t>atau</a:t>
            </a:r>
            <a:r>
              <a:rPr lang="en-US" sz="2400" dirty="0"/>
              <a:t> e-wallet. </a:t>
            </a:r>
            <a:r>
              <a:rPr lang="en-US" sz="2400" dirty="0" err="1"/>
              <a:t>Setelah</a:t>
            </a:r>
            <a:r>
              <a:rPr lang="en-US" sz="2400" dirty="0"/>
              <a:t> </a:t>
            </a:r>
            <a:r>
              <a:rPr lang="en-US" sz="2400" dirty="0" err="1"/>
              <a:t>pelanggan</a:t>
            </a:r>
            <a:r>
              <a:rPr lang="en-US" sz="2400" dirty="0"/>
              <a:t> </a:t>
            </a:r>
            <a:r>
              <a:rPr lang="en-US" sz="2400" dirty="0" err="1"/>
              <a:t>memindai</a:t>
            </a:r>
            <a:r>
              <a:rPr lang="en-US" sz="2400" dirty="0"/>
              <a:t> QR dan </a:t>
            </a:r>
            <a:r>
              <a:rPr lang="en-US" sz="2400" dirty="0" err="1"/>
              <a:t>mengonfirmasi</a:t>
            </a:r>
            <a:r>
              <a:rPr lang="en-US" sz="2400" dirty="0"/>
              <a:t> </a:t>
            </a:r>
            <a:r>
              <a:rPr lang="en-US" sz="2400" dirty="0" err="1"/>
              <a:t>pembayaran</a:t>
            </a:r>
            <a:r>
              <a:rPr lang="en-US" sz="2400" dirty="0"/>
              <a:t>, </a:t>
            </a:r>
            <a:r>
              <a:rPr lang="en-US" sz="2400" dirty="0" err="1"/>
              <a:t>aplikasi</a:t>
            </a:r>
            <a:r>
              <a:rPr lang="en-US" sz="2400" dirty="0"/>
              <a:t> </a:t>
            </a:r>
            <a:r>
              <a:rPr lang="en-US" sz="2400" dirty="0" err="1"/>
              <a:t>pembayaran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memproses</a:t>
            </a:r>
            <a:r>
              <a:rPr lang="en-US" sz="2400" dirty="0"/>
              <a:t> </a:t>
            </a:r>
            <a:r>
              <a:rPr lang="en-US" sz="2400" dirty="0" err="1"/>
              <a:t>transaksi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jaringan</a:t>
            </a:r>
            <a:r>
              <a:rPr lang="en-US" sz="2400" dirty="0"/>
              <a:t> QRIS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mengecek</a:t>
            </a:r>
            <a:r>
              <a:rPr lang="en-US" sz="2400" dirty="0"/>
              <a:t> </a:t>
            </a:r>
            <a:r>
              <a:rPr lang="en-US" sz="2400" dirty="0" err="1"/>
              <a:t>saldo</a:t>
            </a:r>
            <a:r>
              <a:rPr lang="en-US" sz="2400" dirty="0"/>
              <a:t>, </a:t>
            </a:r>
            <a:r>
              <a:rPr lang="en-US" sz="2400" dirty="0" err="1"/>
              <a:t>mengotorisasi</a:t>
            </a:r>
            <a:r>
              <a:rPr lang="en-US" sz="2400" dirty="0"/>
              <a:t> </a:t>
            </a:r>
            <a:r>
              <a:rPr lang="en-US" sz="2400" dirty="0" err="1"/>
              <a:t>pembayaran</a:t>
            </a:r>
            <a:r>
              <a:rPr lang="en-US" sz="2400" dirty="0"/>
              <a:t>, dan </a:t>
            </a:r>
            <a:r>
              <a:rPr lang="en-US" sz="2400" dirty="0" err="1"/>
              <a:t>meneruskan</a:t>
            </a:r>
            <a:r>
              <a:rPr lang="en-US" sz="2400" dirty="0"/>
              <a:t> dana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pihak</a:t>
            </a:r>
            <a:r>
              <a:rPr lang="en-US" sz="2400" dirty="0"/>
              <a:t> bank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penyedia</a:t>
            </a:r>
            <a:r>
              <a:rPr lang="en-US" sz="2400" dirty="0"/>
              <a:t> </a:t>
            </a:r>
            <a:r>
              <a:rPr lang="en-US" sz="2400" dirty="0" err="1"/>
              <a:t>pembayaran</a:t>
            </a:r>
            <a:r>
              <a:rPr lang="en-US" sz="2400" dirty="0"/>
              <a:t> yang </a:t>
            </a:r>
            <a:r>
              <a:rPr lang="en-US" sz="2400" dirty="0" err="1"/>
              <a:t>terhubung</a:t>
            </a:r>
            <a:r>
              <a:rPr lang="en-US" sz="2400" dirty="0"/>
              <a:t>. </a:t>
            </a:r>
          </a:p>
          <a:p>
            <a:pPr marL="0" indent="0" algn="just">
              <a:buNone/>
            </a:pPr>
            <a:r>
              <a:rPr lang="en-US" sz="2400" dirty="0"/>
              <a:t>	Pada project kali </a:t>
            </a:r>
            <a:r>
              <a:rPr lang="en-US" sz="2400" dirty="0" err="1"/>
              <a:t>ini</a:t>
            </a:r>
            <a:r>
              <a:rPr lang="en-US" sz="2400" dirty="0"/>
              <a:t>,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mencoba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‘</a:t>
            </a:r>
            <a:r>
              <a:rPr lang="en-US" sz="2400" dirty="0" err="1"/>
              <a:t>jaringan</a:t>
            </a:r>
            <a:r>
              <a:rPr lang="en-US" sz="2400" dirty="0"/>
              <a:t> QRIS’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mengabungkan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sumber</a:t>
            </a:r>
            <a:r>
              <a:rPr lang="en-US" sz="2400" dirty="0"/>
              <a:t> data. </a:t>
            </a:r>
            <a:r>
              <a:rPr lang="en-US" sz="2400" dirty="0" err="1"/>
              <a:t>Hasilnya</a:t>
            </a:r>
            <a:r>
              <a:rPr lang="en-US" sz="2400" dirty="0"/>
              <a:t> </a:t>
            </a:r>
            <a:r>
              <a:rPr lang="en-US" sz="2400" dirty="0" err="1"/>
              <a:t>berupa</a:t>
            </a:r>
            <a:r>
              <a:rPr lang="en-US" sz="2400" dirty="0"/>
              <a:t> </a:t>
            </a:r>
            <a:r>
              <a:rPr lang="en-US" sz="2400" dirty="0" err="1"/>
              <a:t>gabungan</a:t>
            </a:r>
            <a:r>
              <a:rPr lang="en-US" sz="2400" dirty="0"/>
              <a:t> table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dianalisa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lanjut</a:t>
            </a:r>
            <a:r>
              <a:rPr lang="en-US" sz="2400" dirty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99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2F64-185A-2422-22F8-926224E6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EA2F4-95B1-E18D-4109-14C2D7342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Data Set : </a:t>
            </a:r>
            <a:r>
              <a:rPr lang="en-US" sz="2800" dirty="0">
                <a:hlinkClick r:id="rId2"/>
              </a:rPr>
              <a:t>Brazilian E-Commerce Public Dataset by </a:t>
            </a:r>
            <a:r>
              <a:rPr lang="en-US" sz="2800" dirty="0" err="1">
                <a:hlinkClick r:id="rId2"/>
              </a:rPr>
              <a:t>Olist</a:t>
            </a:r>
            <a:endParaRPr lang="en-US" sz="2800" dirty="0"/>
          </a:p>
          <a:p>
            <a:r>
              <a:rPr lang="en-US" sz="2800" dirty="0"/>
              <a:t>Table Using : </a:t>
            </a:r>
          </a:p>
          <a:p>
            <a:pPr marL="0" indent="0">
              <a:buNone/>
            </a:pPr>
            <a:r>
              <a:rPr lang="en-US" sz="2800" dirty="0"/>
              <a:t>   olist_orders_dataset.csv</a:t>
            </a:r>
          </a:p>
          <a:p>
            <a:pPr marL="0" indent="0">
              <a:buNone/>
            </a:pPr>
            <a:r>
              <a:rPr lang="en-US" sz="2800" dirty="0"/>
              <a:t>   olist_order_items_dataset.csv</a:t>
            </a:r>
          </a:p>
          <a:p>
            <a:pPr marL="0" indent="0">
              <a:buNone/>
            </a:pPr>
            <a:r>
              <a:rPr lang="en-US" sz="2800" dirty="0"/>
              <a:t>   olist_products_dataset.csv</a:t>
            </a:r>
          </a:p>
          <a:p>
            <a:pPr marL="0" indent="0">
              <a:buNone/>
            </a:pPr>
            <a:r>
              <a:rPr lang="en-US" sz="2800" dirty="0"/>
              <a:t>   olist_sellers_dataset.csv</a:t>
            </a:r>
          </a:p>
          <a:p>
            <a:pPr marL="0" indent="0">
              <a:buNone/>
            </a:pPr>
            <a:r>
              <a:rPr lang="en-US" sz="2800" dirty="0"/>
              <a:t>   olist_customers_dataset.csv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858B04-0157-3C71-40CF-9DEFD01EB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096" y="2373823"/>
            <a:ext cx="3278625" cy="425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899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CC031-8576-E42B-8527-AEB44456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olist_orders_dataset.csv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EA568-29FD-3D14-7121-91C9906DC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Row : 99441</a:t>
            </a:r>
          </a:p>
          <a:p>
            <a:r>
              <a:rPr lang="en-US" sz="1800" dirty="0"/>
              <a:t>Missing value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800" dirty="0"/>
              <a:t>Data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24088-8F6B-7629-A765-53D5110F0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56" y="2450526"/>
            <a:ext cx="11496483" cy="520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9C4019-708F-2E5B-6CA7-6C13537A0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8" y="3429000"/>
            <a:ext cx="3848358" cy="18962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11EEF2-C70B-4E9F-61F8-E9BA8A09D34D}"/>
              </a:ext>
            </a:extLst>
          </p:cNvPr>
          <p:cNvSpPr txBox="1"/>
          <p:nvPr/>
        </p:nvSpPr>
        <p:spPr>
          <a:xfrm>
            <a:off x="4989310" y="3059668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 description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474B40-5C61-797A-43E1-66F9A1593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087" y="3429000"/>
            <a:ext cx="7069113" cy="22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44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E82D-F346-B669-6D47-1D045BB2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olist_order_items_dataset.csv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27B41-C6BB-E13C-AE1B-93D46AE39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Row : 112650</a:t>
            </a:r>
          </a:p>
          <a:p>
            <a:r>
              <a:rPr lang="en-US" sz="1800" dirty="0"/>
              <a:t>Missing value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800" dirty="0"/>
              <a:t>Data type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57AFC-1ED1-0141-D81A-E7C126DC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85" y="2452804"/>
            <a:ext cx="11359426" cy="5833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126997-442C-A35E-018B-11DADAA15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32" y="3429000"/>
            <a:ext cx="4177164" cy="22400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74CC34-3066-E00E-D5CE-0532B588B66D}"/>
              </a:ext>
            </a:extLst>
          </p:cNvPr>
          <p:cNvSpPr txBox="1"/>
          <p:nvPr/>
        </p:nvSpPr>
        <p:spPr>
          <a:xfrm>
            <a:off x="5050700" y="3059668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 description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5D0DD38-1B38-9199-335B-7446F63D5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700" y="3429000"/>
            <a:ext cx="7002286" cy="216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20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CF2A-5BBB-F3E8-342F-A1346D1A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olist_products_dataset.csv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5CA94-6CB9-7E3D-99FA-5AA9A1329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Row : 32951</a:t>
            </a:r>
          </a:p>
          <a:p>
            <a:r>
              <a:rPr lang="en-US" sz="1800" dirty="0"/>
              <a:t>Missing 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1800" dirty="0"/>
              <a:t>Data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1F9114-E35B-D06B-B02A-1DB97227A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37" y="2423270"/>
            <a:ext cx="11248962" cy="435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1B7946-947A-993B-2EB3-11D714E1B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28" y="3429000"/>
            <a:ext cx="4348575" cy="25359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806E65-497F-CAAF-76FE-7F59582A2519}"/>
              </a:ext>
            </a:extLst>
          </p:cNvPr>
          <p:cNvSpPr txBox="1"/>
          <p:nvPr/>
        </p:nvSpPr>
        <p:spPr>
          <a:xfrm>
            <a:off x="5087022" y="3059668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 description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619530-F2E7-F33D-A52E-21FD4DB4E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834" y="3429000"/>
            <a:ext cx="6706536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96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E912-719C-9473-3444-CE460B00A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olist_sellers_dataset.csv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5A8EB-7FA6-AB32-625B-F080C9E00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Row : 3095</a:t>
            </a:r>
          </a:p>
          <a:p>
            <a:r>
              <a:rPr lang="en-US" sz="1800" dirty="0"/>
              <a:t>Missing value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dirty="0"/>
              <a:t>Data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06F30-302D-974E-84D1-DD3C5F51F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36" y="2530550"/>
            <a:ext cx="6739261" cy="724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4A1A06-8ACC-74BC-BC4B-649F7D8A8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36" y="3763809"/>
            <a:ext cx="4525006" cy="1448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E6415E-C4DA-8099-5D1D-661B43649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414" y="3763809"/>
            <a:ext cx="4315427" cy="14194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B726C4-8437-66E8-C98A-237B67C07DC2}"/>
              </a:ext>
            </a:extLst>
          </p:cNvPr>
          <p:cNvSpPr txBox="1"/>
          <p:nvPr/>
        </p:nvSpPr>
        <p:spPr>
          <a:xfrm>
            <a:off x="5805041" y="3394477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 description</a:t>
            </a:r>
          </a:p>
        </p:txBody>
      </p:sp>
    </p:spTree>
    <p:extLst>
      <p:ext uri="{BB962C8B-B14F-4D97-AF65-F5344CB8AC3E}">
        <p14:creationId xmlns:p14="http://schemas.microsoft.com/office/powerpoint/2010/main" val="2616096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97D6-6325-6770-F840-C01F470E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olist_customers_dataset.csv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3AF23-3079-CEE5-33D1-2FCAB37EE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Row : 99441</a:t>
            </a:r>
          </a:p>
          <a:p>
            <a:r>
              <a:rPr lang="en-US" sz="1800" dirty="0"/>
              <a:t>Missing value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Data type</a:t>
            </a:r>
          </a:p>
          <a:p>
            <a:pPr marL="0" indent="0">
              <a:buNone/>
            </a:pPr>
            <a:r>
              <a:rPr lang="en-US" sz="1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6EBA0C-A848-3D11-42D7-8FA32A8CA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22" y="2495233"/>
            <a:ext cx="9335803" cy="743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6507F9-026D-5C2B-1F00-92E5ED937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21" y="3969806"/>
            <a:ext cx="4848902" cy="1714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926EF7-7874-3CE7-EBF4-1B6B54968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984" y="3946091"/>
            <a:ext cx="6087325" cy="2172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736CA9-65BC-B7DA-992D-64733A31E554}"/>
              </a:ext>
            </a:extLst>
          </p:cNvPr>
          <p:cNvSpPr txBox="1"/>
          <p:nvPr/>
        </p:nvSpPr>
        <p:spPr>
          <a:xfrm>
            <a:off x="5747984" y="3600474"/>
            <a:ext cx="244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 description</a:t>
            </a:r>
          </a:p>
        </p:txBody>
      </p:sp>
    </p:spTree>
    <p:extLst>
      <p:ext uri="{BB962C8B-B14F-4D97-AF65-F5344CB8AC3E}">
        <p14:creationId xmlns:p14="http://schemas.microsoft.com/office/powerpoint/2010/main" val="4190178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E059-F9A4-81DB-F866-65658AC9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BC6FF-AA12-2977-2DEC-ACB7E37C3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051" y="1862451"/>
            <a:ext cx="10515600" cy="4351338"/>
          </a:xfrm>
        </p:spPr>
        <p:txBody>
          <a:bodyPr>
            <a:normAutofit/>
          </a:bodyPr>
          <a:lstStyle/>
          <a:p>
            <a:r>
              <a:rPr lang="en-US" sz="2800" dirty="0"/>
              <a:t>Data types</a:t>
            </a:r>
          </a:p>
          <a:p>
            <a:r>
              <a:rPr lang="en-US" sz="2800" dirty="0"/>
              <a:t>Duplicates</a:t>
            </a:r>
          </a:p>
          <a:p>
            <a:r>
              <a:rPr lang="en-US" sz="2800" dirty="0"/>
              <a:t>Primary and Foreign key</a:t>
            </a:r>
          </a:p>
          <a:p>
            <a:r>
              <a:rPr lang="en-US" sz="2800" dirty="0"/>
              <a:t>Missing Value</a:t>
            </a:r>
          </a:p>
          <a:p>
            <a:r>
              <a:rPr lang="en-US" sz="2800" dirty="0"/>
              <a:t>Outlier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501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7444-E817-B019-89BD-158F1772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EA3FE-2F7A-73A0-25C1-3492C7955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2070505"/>
            <a:ext cx="4811853" cy="36735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046894-3AB2-C95A-6124-F83D4B730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4392410"/>
            <a:ext cx="4195606" cy="20637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A8E521-0EC7-041B-C42B-85AE701CD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7" y="1881395"/>
            <a:ext cx="4195606" cy="20674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C455FF-8C8E-0CE7-0A40-6226C7564FE5}"/>
              </a:ext>
            </a:extLst>
          </p:cNvPr>
          <p:cNvSpPr txBox="1"/>
          <p:nvPr/>
        </p:nvSpPr>
        <p:spPr>
          <a:xfrm>
            <a:off x="533398" y="1701173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 (</a:t>
            </a:r>
            <a:r>
              <a:rPr lang="en-US" dirty="0" err="1"/>
              <a:t>olist_orders_dataset</a:t>
            </a:r>
            <a:r>
              <a:rPr lang="en-US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AA544A-A459-A3E0-5B3D-0B0E69CBDE53}"/>
              </a:ext>
            </a:extLst>
          </p:cNvPr>
          <p:cNvSpPr txBox="1"/>
          <p:nvPr/>
        </p:nvSpPr>
        <p:spPr>
          <a:xfrm>
            <a:off x="6095997" y="1516507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713563-7130-D6E8-3E25-4B81CE4FD456}"/>
              </a:ext>
            </a:extLst>
          </p:cNvPr>
          <p:cNvSpPr txBox="1"/>
          <p:nvPr/>
        </p:nvSpPr>
        <p:spPr>
          <a:xfrm>
            <a:off x="6095997" y="406647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1820974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74CC6-DE64-8C0C-315C-86FD138A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315C7-A77E-A275-28F3-39D5F6DAF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2070505"/>
            <a:ext cx="4067743" cy="981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1FDBEF-99CB-9561-A00F-D1B5647F8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179" y="3798332"/>
            <a:ext cx="4203571" cy="22400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207305-2F1C-2B69-082C-BD3989BE3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8" y="3798332"/>
            <a:ext cx="4177164" cy="22400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B31594-3B68-7CF5-A9E3-D5CE3517DF2C}"/>
              </a:ext>
            </a:extLst>
          </p:cNvPr>
          <p:cNvSpPr txBox="1"/>
          <p:nvPr/>
        </p:nvSpPr>
        <p:spPr>
          <a:xfrm>
            <a:off x="533398" y="1701173"/>
            <a:ext cx="378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 (</a:t>
            </a:r>
            <a:r>
              <a:rPr lang="en-US" dirty="0" err="1"/>
              <a:t>olist_orders_items_dataset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1616E6-6F02-6ECA-DB39-BD39DF6A29B3}"/>
              </a:ext>
            </a:extLst>
          </p:cNvPr>
          <p:cNvSpPr txBox="1"/>
          <p:nvPr/>
        </p:nvSpPr>
        <p:spPr>
          <a:xfrm>
            <a:off x="533398" y="34290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024B37-CAED-14AA-3BBC-DE50ECD008E0}"/>
              </a:ext>
            </a:extLst>
          </p:cNvPr>
          <p:cNvSpPr txBox="1"/>
          <p:nvPr/>
        </p:nvSpPr>
        <p:spPr>
          <a:xfrm>
            <a:off x="5817179" y="342900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3430666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1DDB-9969-51E3-7EFF-3099A883C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Duplicates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EFEB3-0CFD-FF15-FBA8-CAAAF1076108}"/>
              </a:ext>
            </a:extLst>
          </p:cNvPr>
          <p:cNvSpPr txBox="1"/>
          <p:nvPr/>
        </p:nvSpPr>
        <p:spPr>
          <a:xfrm>
            <a:off x="5194978" y="1668697"/>
            <a:ext cx="5710316" cy="65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Pengecekan</a:t>
            </a:r>
            <a:r>
              <a:rPr lang="en-US" dirty="0"/>
              <a:t> </a:t>
            </a:r>
            <a:r>
              <a:rPr lang="en-US" dirty="0" err="1"/>
              <a:t>duplikat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primary dan foreign key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tabel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73E6E6-DDEF-830D-2F24-8C6E0739C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1668697"/>
            <a:ext cx="4381738" cy="461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37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3BBD1-A170-14F4-0B12-961965EF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and Foreign key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49A91-BEFF-A972-08D9-31554D74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32" y="1846910"/>
            <a:ext cx="5172797" cy="2476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8B8DC7-6A02-C82C-D6DD-A63ABBE44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831" y="1846910"/>
            <a:ext cx="5315692" cy="981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9EDEFA-8D63-380D-9DA6-D53A4A8D2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32" y="4646037"/>
            <a:ext cx="398200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80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3E9BF-D4B6-EE55-9BC5-DDA5FBBB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D43CC9-021C-7426-5BB6-F75ACBD45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117" y="1586187"/>
            <a:ext cx="7220958" cy="12955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06B452-4FDA-8CE9-5328-652338A31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75" y="3025745"/>
            <a:ext cx="11310843" cy="5289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42B5C0-FF14-7509-E6D5-37BE2DD08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575" y="3689274"/>
            <a:ext cx="11359426" cy="5833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5CEE72-CF16-C767-45EB-52950830B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75" y="4400631"/>
            <a:ext cx="11335134" cy="4359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D5F881-0F90-4D4E-8822-C4488CE8C4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575" y="4980570"/>
            <a:ext cx="5456645" cy="5862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9F9BB2-9257-E825-FE67-F6EF54BC78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575" y="5710799"/>
            <a:ext cx="7487547" cy="5959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E8D231-A871-4579-A434-27B9469A1D16}"/>
              </a:ext>
            </a:extLst>
          </p:cNvPr>
          <p:cNvSpPr txBox="1"/>
          <p:nvPr/>
        </p:nvSpPr>
        <p:spPr>
          <a:xfrm>
            <a:off x="533398" y="1579048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query)</a:t>
            </a:r>
          </a:p>
        </p:txBody>
      </p:sp>
    </p:spTree>
    <p:extLst>
      <p:ext uri="{BB962C8B-B14F-4D97-AF65-F5344CB8AC3E}">
        <p14:creationId xmlns:p14="http://schemas.microsoft.com/office/powerpoint/2010/main" val="3342056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7B891-2DD0-1E8A-E2AE-B426CA25B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 (price)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EC57C-B377-1A07-65DB-B94E2027B29E}"/>
              </a:ext>
            </a:extLst>
          </p:cNvPr>
          <p:cNvSpPr txBox="1"/>
          <p:nvPr/>
        </p:nvSpPr>
        <p:spPr>
          <a:xfrm>
            <a:off x="7223145" y="2535755"/>
            <a:ext cx="41240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Karna sangat </a:t>
            </a:r>
            <a:r>
              <a:rPr lang="en-US" sz="1800" dirty="0" err="1"/>
              <a:t>mungkin</a:t>
            </a:r>
            <a:r>
              <a:rPr lang="en-US" sz="1800" dirty="0"/>
              <a:t> price </a:t>
            </a:r>
            <a:r>
              <a:rPr lang="en-US" sz="1800" dirty="0" err="1"/>
              <a:t>bernilai</a:t>
            </a:r>
            <a:r>
              <a:rPr lang="en-US" sz="1800" dirty="0"/>
              <a:t> </a:t>
            </a:r>
            <a:r>
              <a:rPr lang="en-US" sz="1800" dirty="0" err="1"/>
              <a:t>besar</a:t>
            </a:r>
            <a:r>
              <a:rPr lang="en-US" sz="1800" dirty="0"/>
              <a:t>, </a:t>
            </a:r>
            <a:r>
              <a:rPr lang="en-US" sz="1800" dirty="0" err="1"/>
              <a:t>maka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outlier “price”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dilakukan</a:t>
            </a:r>
            <a:r>
              <a:rPr lang="en-US" sz="1800" dirty="0"/>
              <a:t> </a:t>
            </a:r>
            <a:r>
              <a:rPr lang="en-US" sz="1800" dirty="0" err="1"/>
              <a:t>penanganan</a:t>
            </a:r>
            <a:r>
              <a:rPr lang="en-US" sz="1800" dirty="0"/>
              <a:t> (</a:t>
            </a:r>
            <a:r>
              <a:rPr lang="en-US" sz="1800" dirty="0" err="1"/>
              <a:t>dibiarkan</a:t>
            </a:r>
            <a:r>
              <a:rPr lang="en-US" sz="1800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A5CEA9-1AC8-660D-BFC9-D57EB69EA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7" y="1695285"/>
            <a:ext cx="6344535" cy="4191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9CD560-EB65-1A53-C741-A93F9F84C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413" y="1695285"/>
            <a:ext cx="2114845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66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CCE57-ECD9-9E95-47DA-DFD125C8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 (weight)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7E015-EC81-A1EF-55D6-BA7F251A470E}"/>
              </a:ext>
            </a:extLst>
          </p:cNvPr>
          <p:cNvSpPr txBox="1"/>
          <p:nvPr/>
        </p:nvSpPr>
        <p:spPr>
          <a:xfrm>
            <a:off x="7622046" y="2670536"/>
            <a:ext cx="37742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Karna sangat </a:t>
            </a:r>
            <a:r>
              <a:rPr lang="en-US" sz="1800" dirty="0" err="1"/>
              <a:t>mungkin</a:t>
            </a:r>
            <a:r>
              <a:rPr lang="en-US" sz="1800" dirty="0"/>
              <a:t> </a:t>
            </a:r>
            <a:r>
              <a:rPr lang="en-US" sz="1800" dirty="0" err="1"/>
              <a:t>berat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sz="1800" dirty="0"/>
              <a:t>, </a:t>
            </a:r>
            <a:r>
              <a:rPr lang="en-US" sz="1800" dirty="0" err="1"/>
              <a:t>maka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outlier “weight”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dilakukan</a:t>
            </a:r>
            <a:r>
              <a:rPr lang="en-US" sz="1800" dirty="0"/>
              <a:t> </a:t>
            </a:r>
            <a:r>
              <a:rPr lang="en-US" sz="1800" dirty="0" err="1"/>
              <a:t>penanganan</a:t>
            </a:r>
            <a:r>
              <a:rPr lang="en-US" sz="1800" dirty="0"/>
              <a:t> (</a:t>
            </a:r>
            <a:r>
              <a:rPr lang="en-US" sz="1800" dirty="0" err="1"/>
              <a:t>dibiarkan</a:t>
            </a:r>
            <a:r>
              <a:rPr lang="en-US" sz="18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AFE85D-4E5A-AF16-57A7-2BE54CBEE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7" y="1839776"/>
            <a:ext cx="6849309" cy="3829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DFEE96-4CA6-6D9A-DA3D-A0D98AE88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381" y="1874177"/>
            <a:ext cx="2048161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30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11D0-7B10-CADB-7772-7BC4622C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 (volume)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EC1D09-ED96-919D-8A58-2C57AB1CAF41}"/>
              </a:ext>
            </a:extLst>
          </p:cNvPr>
          <p:cNvSpPr txBox="1"/>
          <p:nvPr/>
        </p:nvSpPr>
        <p:spPr>
          <a:xfrm>
            <a:off x="5746980" y="2683880"/>
            <a:ext cx="59116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Karna sangat </a:t>
            </a:r>
            <a:r>
              <a:rPr lang="en-US" sz="1800" dirty="0" err="1"/>
              <a:t>mungkin</a:t>
            </a:r>
            <a:r>
              <a:rPr lang="en-US" sz="1800" dirty="0"/>
              <a:t> volume </a:t>
            </a:r>
            <a:r>
              <a:rPr lang="en-US" sz="1800" dirty="0" err="1"/>
              <a:t>bernilai</a:t>
            </a:r>
            <a:r>
              <a:rPr lang="en-US" sz="1800" dirty="0"/>
              <a:t> </a:t>
            </a:r>
            <a:r>
              <a:rPr lang="en-US" sz="1800" dirty="0" err="1"/>
              <a:t>besar</a:t>
            </a:r>
            <a:r>
              <a:rPr lang="en-US" sz="1800" dirty="0"/>
              <a:t>, </a:t>
            </a:r>
            <a:r>
              <a:rPr lang="en-US" sz="1800" dirty="0" err="1"/>
              <a:t>maka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outlier “volume”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dilakukan</a:t>
            </a:r>
            <a:r>
              <a:rPr lang="en-US" sz="1800" dirty="0"/>
              <a:t> </a:t>
            </a:r>
            <a:r>
              <a:rPr lang="en-US" sz="1800" dirty="0" err="1"/>
              <a:t>penanganan</a:t>
            </a:r>
            <a:r>
              <a:rPr lang="en-US" sz="1800" dirty="0"/>
              <a:t> (</a:t>
            </a:r>
            <a:r>
              <a:rPr lang="en-US" sz="1800" dirty="0" err="1"/>
              <a:t>dibiarkan</a:t>
            </a:r>
            <a:r>
              <a:rPr lang="en-US" sz="1800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8F352F-5653-E5A2-B297-F2AD71F6C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79" y="1763715"/>
            <a:ext cx="4633882" cy="4710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719E39-7D54-9DA0-35B6-0B1804C73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980" y="1763714"/>
            <a:ext cx="2048161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34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1D24-088D-98EA-3263-9C49057E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DAEDF-ECE2-D3D1-2157-478FE860E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1763714"/>
            <a:ext cx="3467584" cy="2857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5DEDDF-84FA-8E70-A118-3EE83B5C5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940" y="1763714"/>
            <a:ext cx="6868484" cy="2762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17F9B4-516A-5DD0-B5AE-51D369EA1B74}"/>
              </a:ext>
            </a:extLst>
          </p:cNvPr>
          <p:cNvSpPr txBox="1"/>
          <p:nvPr/>
        </p:nvSpPr>
        <p:spPr>
          <a:xfrm>
            <a:off x="533398" y="4866909"/>
            <a:ext cx="10751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Dari total 99441 order, </a:t>
            </a:r>
            <a:r>
              <a:rPr lang="en-US" dirty="0" err="1"/>
              <a:t>sebesar</a:t>
            </a:r>
            <a:r>
              <a:rPr lang="en-US" dirty="0"/>
              <a:t> 97.02%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customer(delivered). Ini </a:t>
            </a:r>
            <a:r>
              <a:rPr lang="en-US" dirty="0" err="1"/>
              <a:t>menunjukan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yang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bagus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jual</a:t>
            </a:r>
            <a:r>
              <a:rPr lang="en-US" dirty="0"/>
              <a:t> </a:t>
            </a:r>
            <a:r>
              <a:rPr lang="en-US" dirty="0" err="1"/>
              <a:t>beli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online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C167CB-B7F1-B5C3-3DB5-4D619057673F}"/>
              </a:ext>
            </a:extLst>
          </p:cNvPr>
          <p:cNvSpPr txBox="1"/>
          <p:nvPr/>
        </p:nvSpPr>
        <p:spPr>
          <a:xfrm>
            <a:off x="533398" y="5633275"/>
            <a:ext cx="10751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Namun</a:t>
            </a:r>
            <a:r>
              <a:rPr lang="en-US" dirty="0"/>
              <a:t>, </a:t>
            </a:r>
            <a:r>
              <a:rPr lang="en-US" dirty="0" err="1"/>
              <a:t>sebesar</a:t>
            </a:r>
            <a:r>
              <a:rPr lang="en-US" dirty="0"/>
              <a:t> 0.62% order </a:t>
            </a:r>
            <a:r>
              <a:rPr lang="en-US" dirty="0" err="1"/>
              <a:t>dibatalkan</a:t>
            </a:r>
            <a:r>
              <a:rPr lang="en-US" dirty="0"/>
              <a:t> (cancel) dan 0.61% order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dilanjutkan</a:t>
            </a:r>
            <a:r>
              <a:rPr lang="en-US" dirty="0"/>
              <a:t> (unavailable). </a:t>
            </a:r>
            <a:r>
              <a:rPr lang="en-US" dirty="0" err="1"/>
              <a:t>Walaupun</a:t>
            </a:r>
            <a:r>
              <a:rPr lang="en-US" dirty="0"/>
              <a:t> </a:t>
            </a:r>
            <a:r>
              <a:rPr lang="en-US" dirty="0" err="1"/>
              <a:t>tergolong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, Perusahaan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penyebab</a:t>
            </a:r>
            <a:r>
              <a:rPr lang="en-US" dirty="0"/>
              <a:t> order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selesai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019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8BEA-5FE8-6D21-901E-333AD1362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E08B79-77A4-5A6A-87A4-5E24FD017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596" y="1661921"/>
            <a:ext cx="5979990" cy="4729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B2200B-B06B-737A-BCD4-8918E274949A}"/>
              </a:ext>
            </a:extLst>
          </p:cNvPr>
          <p:cNvSpPr txBox="1"/>
          <p:nvPr/>
        </p:nvSpPr>
        <p:spPr>
          <a:xfrm>
            <a:off x="6910451" y="1661921"/>
            <a:ext cx="4256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 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i="1" dirty="0" err="1"/>
              <a:t>cama</a:t>
            </a:r>
            <a:r>
              <a:rPr lang="en-US" i="1" dirty="0"/>
              <a:t> mesa baho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yang paling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terjual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i="1" dirty="0" err="1"/>
              <a:t>beleza</a:t>
            </a:r>
            <a:r>
              <a:rPr lang="en-US" i="1" dirty="0"/>
              <a:t> </a:t>
            </a:r>
            <a:r>
              <a:rPr lang="en-US" i="1" dirty="0" err="1"/>
              <a:t>saude</a:t>
            </a:r>
            <a:r>
              <a:rPr lang="en-US" i="1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penghasil</a:t>
            </a:r>
            <a:r>
              <a:rPr lang="en-US" dirty="0"/>
              <a:t> revenue </a:t>
            </a:r>
            <a:r>
              <a:rPr lang="en-US" dirty="0" err="1"/>
              <a:t>terbesar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7630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7D33-F897-709E-19E9-34A0CF80D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seller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9471C6-762D-1D84-E70A-B65C81095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8" y="1565520"/>
            <a:ext cx="6928259" cy="51922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6B884F-6B18-FC69-D60D-432CC1EDD2E3}"/>
              </a:ext>
            </a:extLst>
          </p:cNvPr>
          <p:cNvSpPr txBox="1"/>
          <p:nvPr/>
        </p:nvSpPr>
        <p:spPr>
          <a:xfrm>
            <a:off x="7800016" y="1644692"/>
            <a:ext cx="39180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  </a:t>
            </a:r>
            <a:r>
              <a:rPr lang="en-US" dirty="0" err="1"/>
              <a:t>Jumlah</a:t>
            </a:r>
            <a:r>
              <a:rPr lang="en-US" dirty="0"/>
              <a:t> order cancel </a:t>
            </a:r>
            <a:r>
              <a:rPr lang="en-US" dirty="0" err="1"/>
              <a:t>tertinggi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menunjukan</a:t>
            </a:r>
            <a:r>
              <a:rPr lang="en-US" dirty="0"/>
              <a:t> </a:t>
            </a:r>
            <a:r>
              <a:rPr lang="en-US" dirty="0" err="1"/>
              <a:t>performa</a:t>
            </a:r>
            <a:r>
              <a:rPr lang="en-US" dirty="0"/>
              <a:t> yang </a:t>
            </a:r>
            <a:r>
              <a:rPr lang="en-US" dirty="0" err="1"/>
              <a:t>buruk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dilihat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cancellation rate dan juga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price lost yang </a:t>
            </a:r>
            <a:r>
              <a:rPr lang="en-US" dirty="0" err="1"/>
              <a:t>besar</a:t>
            </a:r>
            <a:r>
              <a:rPr lang="en-US" dirty="0"/>
              <a:t>. Perusahaan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focus </a:t>
            </a:r>
            <a:r>
              <a:rPr lang="en-US" dirty="0" err="1"/>
              <a:t>menangani</a:t>
            </a:r>
            <a:r>
              <a:rPr lang="en-US" dirty="0"/>
              <a:t> seller </a:t>
            </a:r>
            <a:r>
              <a:rPr lang="en-US" dirty="0" err="1"/>
              <a:t>dengan</a:t>
            </a:r>
            <a:r>
              <a:rPr lang="en-US" dirty="0"/>
              <a:t> cancellation rate dan price lost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9677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D0917-2493-B3B6-FE3B-4B7A654F8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AC3B3-AD43-79C6-867A-B3C37A7ADD8A}"/>
              </a:ext>
            </a:extLst>
          </p:cNvPr>
          <p:cNvSpPr txBox="1"/>
          <p:nvPr/>
        </p:nvSpPr>
        <p:spPr>
          <a:xfrm>
            <a:off x="533398" y="5841045"/>
            <a:ext cx="110039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   Customer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terbanyak</a:t>
            </a:r>
            <a:r>
              <a:rPr lang="en-US" dirty="0"/>
              <a:t> (16)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customer </a:t>
            </a:r>
            <a:r>
              <a:rPr lang="en-US" dirty="0" err="1"/>
              <a:t>dengan</a:t>
            </a:r>
            <a:r>
              <a:rPr lang="en-US" dirty="0"/>
              <a:t> spend (729.62) </a:t>
            </a:r>
            <a:r>
              <a:rPr lang="en-US" dirty="0" err="1"/>
              <a:t>terbesar</a:t>
            </a:r>
            <a:r>
              <a:rPr lang="en-US" dirty="0"/>
              <a:t>. </a:t>
            </a:r>
            <a:r>
              <a:rPr lang="en-US" dirty="0" err="1"/>
              <a:t>Sedangkan</a:t>
            </a:r>
            <a:r>
              <a:rPr lang="en-US" dirty="0"/>
              <a:t> customer </a:t>
            </a:r>
            <a:r>
              <a:rPr lang="en-US" dirty="0" err="1"/>
              <a:t>dengan</a:t>
            </a:r>
            <a:r>
              <a:rPr lang="en-US" dirty="0"/>
              <a:t> spend </a:t>
            </a:r>
            <a:r>
              <a:rPr lang="en-US" dirty="0" err="1"/>
              <a:t>terbesar</a:t>
            </a:r>
            <a:r>
              <a:rPr lang="en-US" dirty="0"/>
              <a:t> (4080)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(4).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customer loyal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D28CCB-A17E-B81A-F077-9EEE24E0F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245" y="1624864"/>
            <a:ext cx="8849429" cy="411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2260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FE82-2C17-E0F7-2131-9D1589E3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B24BA-5F70-F4CE-3AA1-E1CDACD33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2019590"/>
          </a:xfrm>
        </p:spPr>
        <p:txBody>
          <a:bodyPr>
            <a:normAutofit/>
          </a:bodyPr>
          <a:lstStyle/>
          <a:p>
            <a:r>
              <a:rPr lang="en-US" sz="1800" dirty="0"/>
              <a:t>Perusahaan </a:t>
            </a:r>
            <a:r>
              <a:rPr lang="en-US" sz="1800" dirty="0" err="1"/>
              <a:t>memiliki</a:t>
            </a:r>
            <a:r>
              <a:rPr lang="en-US" sz="1800" dirty="0"/>
              <a:t> </a:t>
            </a:r>
            <a:r>
              <a:rPr lang="en-US" sz="1800" dirty="0" err="1"/>
              <a:t>sistem</a:t>
            </a:r>
            <a:r>
              <a:rPr lang="en-US" sz="1800" dirty="0"/>
              <a:t> yang </a:t>
            </a:r>
            <a:r>
              <a:rPr lang="en-US" sz="1800" dirty="0" err="1"/>
              <a:t>cukup</a:t>
            </a:r>
            <a:r>
              <a:rPr lang="en-US" sz="1800" dirty="0"/>
              <a:t> </a:t>
            </a:r>
            <a:r>
              <a:rPr lang="en-US" sz="1800" dirty="0" err="1"/>
              <a:t>bagus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97.02% order </a:t>
            </a:r>
            <a:r>
              <a:rPr lang="en-US" sz="1800" dirty="0" err="1"/>
              <a:t>sampai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customer</a:t>
            </a:r>
          </a:p>
          <a:p>
            <a:r>
              <a:rPr lang="en-US" sz="1800" dirty="0" err="1"/>
              <a:t>Produk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tingkat</a:t>
            </a:r>
            <a:r>
              <a:rPr lang="en-US" sz="1800" dirty="0"/>
              <a:t> </a:t>
            </a:r>
            <a:r>
              <a:rPr lang="en-US" sz="1800" dirty="0" err="1"/>
              <a:t>penjualan</a:t>
            </a:r>
            <a:r>
              <a:rPr lang="en-US" sz="1800" dirty="0"/>
              <a:t> </a:t>
            </a:r>
            <a:r>
              <a:rPr lang="en-US" sz="1800" dirty="0" err="1"/>
              <a:t>tertinggi</a:t>
            </a:r>
            <a:r>
              <a:rPr lang="en-US" sz="1800" dirty="0"/>
              <a:t> </a:t>
            </a:r>
            <a:r>
              <a:rPr lang="en-US" sz="1800" dirty="0" err="1"/>
              <a:t>belum</a:t>
            </a:r>
            <a:r>
              <a:rPr lang="en-US" sz="1800" dirty="0"/>
              <a:t> </a:t>
            </a:r>
            <a:r>
              <a:rPr lang="en-US" sz="1800" dirty="0" err="1"/>
              <a:t>tentu</a:t>
            </a:r>
            <a:r>
              <a:rPr lang="en-US" sz="1800" dirty="0"/>
              <a:t> </a:t>
            </a:r>
            <a:r>
              <a:rPr lang="en-US" sz="1800" dirty="0" err="1"/>
              <a:t>menjadi</a:t>
            </a:r>
            <a:r>
              <a:rPr lang="en-US" sz="1800" dirty="0"/>
              <a:t> </a:t>
            </a:r>
            <a:r>
              <a:rPr lang="en-US" sz="1800" dirty="0" err="1"/>
              <a:t>produk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penghasil</a:t>
            </a:r>
            <a:r>
              <a:rPr lang="en-US" sz="1800" dirty="0"/>
              <a:t> revenue </a:t>
            </a:r>
            <a:r>
              <a:rPr lang="en-US" sz="1800" dirty="0" err="1"/>
              <a:t>terbesar</a:t>
            </a:r>
            <a:endParaRPr lang="en-US" sz="1800" dirty="0"/>
          </a:p>
          <a:p>
            <a:r>
              <a:rPr lang="en-US" sz="1800" dirty="0"/>
              <a:t>Seller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performa</a:t>
            </a:r>
            <a:r>
              <a:rPr lang="en-US" sz="1800" dirty="0"/>
              <a:t> </a:t>
            </a:r>
            <a:r>
              <a:rPr lang="en-US" sz="1800" dirty="0" err="1"/>
              <a:t>terburuk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dilihat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cancellation </a:t>
            </a:r>
            <a:r>
              <a:rPr lang="en-US" sz="1800" dirty="0" err="1"/>
              <a:t>ratenya</a:t>
            </a:r>
            <a:endParaRPr lang="en-US" sz="1800" dirty="0"/>
          </a:p>
          <a:p>
            <a:r>
              <a:rPr lang="en-US" sz="1800" dirty="0"/>
              <a:t>Belum </a:t>
            </a:r>
            <a:r>
              <a:rPr lang="en-US" sz="1800" dirty="0" err="1"/>
              <a:t>terlihat</a:t>
            </a:r>
            <a:r>
              <a:rPr lang="en-US" sz="1800" dirty="0"/>
              <a:t> </a:t>
            </a:r>
            <a:r>
              <a:rPr lang="en-US" sz="1800" dirty="0" err="1"/>
              <a:t>pola</a:t>
            </a:r>
            <a:r>
              <a:rPr lang="en-US" sz="1800" dirty="0"/>
              <a:t> customer loyal yang </a:t>
            </a:r>
            <a:r>
              <a:rPr lang="en-US" sz="1800" dirty="0" err="1"/>
              <a:t>konsisten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data </a:t>
            </a:r>
            <a:r>
              <a:rPr lang="en-US" sz="1800" dirty="0" err="1"/>
              <a:t>transaksi</a:t>
            </a:r>
            <a:r>
              <a:rPr lang="en-US" sz="1800" dirty="0"/>
              <a:t> yang </a:t>
            </a:r>
            <a:r>
              <a:rPr lang="en-US" sz="1800" dirty="0" err="1"/>
              <a:t>dianalisis</a:t>
            </a:r>
            <a:r>
              <a:rPr lang="en-US" sz="18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431D1A-FF7C-BA4A-3D8D-2E4A33389C10}"/>
              </a:ext>
            </a:extLst>
          </p:cNvPr>
          <p:cNvSpPr txBox="1">
            <a:spLocks/>
          </p:cNvSpPr>
          <p:nvPr/>
        </p:nvSpPr>
        <p:spPr>
          <a:xfrm>
            <a:off x="533397" y="3768064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cap="all" spc="0" baseline="0">
                <a:solidFill>
                  <a:schemeClr val="tx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recomendation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D0E009-54F0-A850-53B4-A725EEFB6315}"/>
              </a:ext>
            </a:extLst>
          </p:cNvPr>
          <p:cNvSpPr txBox="1">
            <a:spLocks/>
          </p:cNvSpPr>
          <p:nvPr/>
        </p:nvSpPr>
        <p:spPr>
          <a:xfrm>
            <a:off x="533395" y="4499583"/>
            <a:ext cx="11125202" cy="2019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Mempertahankan</a:t>
            </a:r>
            <a:r>
              <a:rPr lang="en-US" sz="1800" dirty="0"/>
              <a:t> </a:t>
            </a:r>
            <a:r>
              <a:rPr lang="en-US" sz="1800" dirty="0" err="1"/>
              <a:t>performa</a:t>
            </a:r>
            <a:r>
              <a:rPr lang="en-US" sz="1800" dirty="0"/>
              <a:t> order yang </a:t>
            </a:r>
            <a:r>
              <a:rPr lang="en-US" sz="1800" dirty="0" err="1"/>
              <a:t>sampai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customer</a:t>
            </a:r>
          </a:p>
          <a:p>
            <a:r>
              <a:rPr lang="en-US" sz="1800" dirty="0"/>
              <a:t>Perusahaan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memberi</a:t>
            </a:r>
            <a:r>
              <a:rPr lang="en-US" sz="1800" dirty="0"/>
              <a:t> </a:t>
            </a:r>
            <a:r>
              <a:rPr lang="en-US" sz="1800" dirty="0" err="1"/>
              <a:t>peringatan</a:t>
            </a:r>
            <a:r>
              <a:rPr lang="en-US" sz="1800" dirty="0"/>
              <a:t> pada seller </a:t>
            </a:r>
            <a:r>
              <a:rPr lang="en-US" sz="1800" dirty="0" err="1"/>
              <a:t>dengan</a:t>
            </a:r>
            <a:r>
              <a:rPr lang="en-US" sz="1800" dirty="0"/>
              <a:t> cancellation rate yang </a:t>
            </a:r>
            <a:r>
              <a:rPr lang="en-US" sz="1800" dirty="0" err="1"/>
              <a:t>tinggi</a:t>
            </a:r>
            <a:r>
              <a:rPr lang="en-US" sz="1800" dirty="0"/>
              <a:t> (</a:t>
            </a:r>
            <a:r>
              <a:rPr lang="en-US" sz="1800" dirty="0" err="1"/>
              <a:t>diatas</a:t>
            </a:r>
            <a:r>
              <a:rPr lang="en-US" sz="1800" dirty="0"/>
              <a:t> 50%)</a:t>
            </a:r>
          </a:p>
          <a:p>
            <a:r>
              <a:rPr lang="en-US" sz="1800" dirty="0" err="1"/>
              <a:t>Prioritaskan</a:t>
            </a:r>
            <a:r>
              <a:rPr lang="en-US" sz="1800" dirty="0"/>
              <a:t> </a:t>
            </a:r>
            <a:r>
              <a:rPr lang="en-US" sz="1800" dirty="0" err="1"/>
              <a:t>kategori</a:t>
            </a:r>
            <a:r>
              <a:rPr lang="en-US" sz="1800" dirty="0"/>
              <a:t> </a:t>
            </a:r>
            <a:r>
              <a:rPr lang="en-US" sz="1800" dirty="0" err="1"/>
              <a:t>produk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melakukan</a:t>
            </a:r>
            <a:r>
              <a:rPr lang="en-US" sz="1800" dirty="0"/>
              <a:t> </a:t>
            </a:r>
            <a:r>
              <a:rPr lang="en-US" sz="1800" dirty="0" err="1"/>
              <a:t>kombinasi</a:t>
            </a:r>
            <a:r>
              <a:rPr lang="en-US" sz="1800" dirty="0"/>
              <a:t> </a:t>
            </a:r>
            <a:r>
              <a:rPr lang="en-US" sz="1800" dirty="0" err="1"/>
              <a:t>penjualan</a:t>
            </a:r>
            <a:r>
              <a:rPr lang="en-US" sz="1800" dirty="0"/>
              <a:t> dan revenue </a:t>
            </a:r>
            <a:r>
              <a:rPr lang="en-US" sz="1800" dirty="0" err="1"/>
              <a:t>tinggi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37506087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1632</TotalTime>
  <Words>800</Words>
  <Application>Microsoft Office PowerPoint</Application>
  <PresentationFormat>Widescreen</PresentationFormat>
  <Paragraphs>133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DM Sans</vt:lpstr>
      <vt:lpstr>Modulo</vt:lpstr>
      <vt:lpstr>Olist Seller and Customer Analysis (Brazilian E-Commerce Public Dataset by Olist)</vt:lpstr>
      <vt:lpstr>Table of Content</vt:lpstr>
      <vt:lpstr>Introduction</vt:lpstr>
      <vt:lpstr>Project Overview</vt:lpstr>
      <vt:lpstr>Main Project</vt:lpstr>
      <vt:lpstr>Problem Statement</vt:lpstr>
      <vt:lpstr>Data Understanding</vt:lpstr>
      <vt:lpstr>olist_orders_dataset.csv</vt:lpstr>
      <vt:lpstr> olist_order_items_dataset.csv</vt:lpstr>
      <vt:lpstr>olist_products_dataset.csv</vt:lpstr>
      <vt:lpstr> olist_sellers_dataset.csv</vt:lpstr>
      <vt:lpstr> olist_customers_dataset.csv</vt:lpstr>
      <vt:lpstr>Data Preparation</vt:lpstr>
      <vt:lpstr>Data types</vt:lpstr>
      <vt:lpstr>Data types</vt:lpstr>
      <vt:lpstr>Duplicates</vt:lpstr>
      <vt:lpstr>Primary and Foreign key</vt:lpstr>
      <vt:lpstr>Missing Value</vt:lpstr>
      <vt:lpstr>Outliers (price)</vt:lpstr>
      <vt:lpstr>Outliers (weight)</vt:lpstr>
      <vt:lpstr>Outliers (volume)</vt:lpstr>
      <vt:lpstr>Visualization</vt:lpstr>
      <vt:lpstr>product</vt:lpstr>
      <vt:lpstr>seller</vt:lpstr>
      <vt:lpstr>customer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Irwan Saldeni</dc:creator>
  <cp:lastModifiedBy>Irwan Saldeni</cp:lastModifiedBy>
  <cp:revision>80</cp:revision>
  <dcterms:created xsi:type="dcterms:W3CDTF">2026-08-16T16:17:54Z</dcterms:created>
  <dcterms:modified xsi:type="dcterms:W3CDTF">2026-09-23T08:40:04Z</dcterms:modified>
</cp:coreProperties>
</file>